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Mono SemiBold"/>
      <p:regular r:id="rId201314"/>
    </p:embeddedFont>
    <p:embeddedFont>
      <p:font typeface="Geist Mono Bold"/>
      <p:regular r:id="rId201315"/>
    </p:embeddedFont>
    <p:embeddedFont>
      <p:font typeface="Geist Mono Black"/>
      <p:regular r:id="rId201316"/>
    </p:embeddedFont>
    <p:embeddedFont>
      <p:font typeface="Hanken Grotesk SemiBold"/>
      <p:regular r:id="rId201317"/>
    </p:embeddedFont>
    <p:embeddedFont>
      <p:font typeface="Hanken Grotesk Bold"/>
      <p:regular r:id="rId201318"/>
    </p:embeddedFont>
    <p:embeddedFont>
      <p:font typeface="Hanken Grotesk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09600"/>
            <a:ext cx="1148051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105" kern="0" dirty="0">
                <a:solidFill>
                  <a:srgbClr val="93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CUSTOMER SHOPPING BEHAVIOR · ANALYTICS READOUT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60383" y="1103908"/>
            <a:ext cx="10870928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200" b="1" spc="-726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3.9K</a:t>
            </a:r>
            <a:endParaRPr lang="en-US" sz="13200" dirty="0"/>
          </a:p>
        </p:txBody>
      </p:sp>
      <p:sp>
        <p:nvSpPr>
          <p:cNvPr id="4" name="Text 2"/>
          <p:cNvSpPr/>
          <p:nvPr/>
        </p:nvSpPr>
        <p:spPr>
          <a:xfrm>
            <a:off x="660383" y="3065463"/>
            <a:ext cx="114805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purchases in the analysis base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0383" y="3659187"/>
            <a:ext cx="10870928" cy="227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5800" b="1" spc="-203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Customer shopping behavior:</a:t>
            </a:r>
            <a:endParaRPr lang="en-US" sz="58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5800" b="1" spc="-203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where value, loyalty, and growth are hiding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60383" y="6119217"/>
            <a:ext cx="1148051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105" kern="0" dirty="0">
                <a:solidFill>
                  <a:srgbClr val="93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 DECISION READOUT ACROSS REVENUE, DISCOUNTS, PRODUCTS, SHIPPING, SUBSCRIPTIONS, AND LOYALTY.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810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01 · 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42541"/>
            <a:ext cx="10972526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spc="-126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A clean 3,900-purchase base supports ten business questions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768475"/>
            <a:ext cx="403849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146895"/>
            <a:ext cx="3428914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3,900 rows across 18 columns spanning demographics, purchase details, shopping behavior, ratings, subscriptions, and shipping.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95688" y="1768475"/>
            <a:ext cx="380990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95688" y="2146895"/>
            <a:ext cx="320032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37 review ratings were missing; analysis filled them with category-level median ratings.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53196" y="1768475"/>
            <a:ext cx="403849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FEATURE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3196" y="2146895"/>
            <a:ext cx="3428914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Created age groups and purchase-frequency days. Dropped </a:t>
            </a:r>
            <a:pPr algn="l"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promo_code_used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after a redundancy check against </a:t>
            </a:r>
            <a:pPr algn="l"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discount_applied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3457377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585" y="3892947"/>
            <a:ext cx="1097252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Cleaned data was loaded into PostgreSQL and surfaced in a Power BI dashboard with filters for subscription, gender, category, and shipping type.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60743" y="1768475"/>
            <a:ext cx="12700" cy="1460302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18252" y="1768475"/>
            <a:ext cx="12700" cy="1460302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4" name="Text 12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02 ·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44141"/>
            <a:ext cx="10972526" cy="47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spc="-126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The baseline is healthy, with clear room to move value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445220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24405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335536"/>
            <a:ext cx="253993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3.9K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09585" y="4129286"/>
            <a:ext cx="314952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customers in the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55911" y="3335536"/>
            <a:ext cx="233674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$59.76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555911" y="4129286"/>
            <a:ext cx="29463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purchase amount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9042" y="3335536"/>
            <a:ext cx="233674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3.75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299042" y="4129286"/>
            <a:ext cx="29463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review rating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42174" y="3335536"/>
            <a:ext cx="253993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44.07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042174" y="4129286"/>
            <a:ext cx="314952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mean customer 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42174" y="4507706"/>
            <a:ext cx="253993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105" kern="0" dirty="0">
                <a:solidFill>
                  <a:srgbClr val="93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PURCHASE AMOUNT RANGES FROM $20 TO $100.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46366" y="2979936"/>
            <a:ext cx="12700" cy="1887736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498" y="2979936"/>
            <a:ext cx="12700" cy="1887736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6" name="Shape 14"/>
          <p:cNvSpPr/>
          <p:nvPr/>
        </p:nvSpPr>
        <p:spPr>
          <a:xfrm>
            <a:off x="8832629" y="2979936"/>
            <a:ext cx="12700" cy="1887736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782300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03 · REVENUE CONCENTRATION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94941"/>
            <a:ext cx="7213420" cy="1412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spc="-126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Revenue is concentrated: male customers contribute $157,890 vs $75,191 female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91767"/>
            <a:ext cx="721342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3A3B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Gender is a useful campaign lens, but not a standalone explanation. Keep category, subscription, and shipping context in the dashboard.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589" y="1841500"/>
            <a:ext cx="3149521" cy="317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1447" y="0"/>
            <a:ext cx="12700" cy="6858000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7" name="Text 4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04 · DISCOUNT 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93341"/>
            <a:ext cx="10972526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spc="-126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Discounts are a growth lever, but product dependence is uneven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819275"/>
            <a:ext cx="1097252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3A3B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839 customers used discounts while still spending above the average purchase amount. Test discount depth by product rather than applying one blanket policy; protect margin where demand is already less dependent on discounting.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566591"/>
          <a:ext cx="9143771" cy="914400"/>
        </p:xfrm>
        <a:graphic>
          <a:graphicData uri="http://schemas.openxmlformats.org/drawingml/2006/table">
            <a:tbl>
              <a:tblPr/>
              <a:tblGrid>
                <a:gridCol w="6034889"/>
                <a:gridCol w="4937637"/>
              </a:tblGrid>
              <a:tr h="3734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84" kern="0" dirty="0">
                          <a:solidFill>
                            <a:srgbClr val="4B8DF8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84" kern="0" dirty="0">
                          <a:solidFill>
                            <a:srgbClr val="4B8DF8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DISCOUNT DEPENDENCE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Hat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50.00%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Sneakers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49.66%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Coat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49.07%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Sweater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48.17%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3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Pants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47.37%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146675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105" kern="0" dirty="0">
                <a:solidFill>
                  <a:srgbClr val="93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READ · PROTECT MARGIN WHERE DEMAND IS ALREADY LESS DEPENDENT ON DISCOUNTING.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05 · PRODUCT SIGNALS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93341"/>
            <a:ext cx="10972526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spc="-126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Satisfaction leaders and purchase leaders are not the same list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819275"/>
            <a:ext cx="499097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5 BY AVERAGE RATING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24683"/>
          <a:ext cx="9143771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3734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84" kern="0" dirty="0">
                          <a:solidFill>
                            <a:srgbClr val="4B8DF8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84" kern="0" dirty="0">
                          <a:solidFill>
                            <a:srgbClr val="4B8DF8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RATING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Gloves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3.86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Sandals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3.84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Boots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3.82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Hat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3.80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3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Skirt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3.78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48164" y="1819275"/>
            <a:ext cx="67435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PURCHASES BY CATEGORY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48164" y="2197695"/>
            <a:ext cx="6133947" cy="122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Accessories: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Jewelry 171; Sunglasses 161; Belt 161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Clothing: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Blouse 171; Pants 171; Shirt 169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Footwear: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Sandals 160; Shoes 150; Sneakers 145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Outerwear: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Jacket 163; Coat 161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48164" y="3530402"/>
            <a:ext cx="613394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3A3B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Activation: feature highly rated products for trust and best sellers for reach.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06 · TARGETING SIGNALS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93341"/>
            <a:ext cx="10972526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spc="-126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Express shipping commands a higher average purchase, while young adults lead age-group revenue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819275"/>
            <a:ext cx="495287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PURCHASE AMOUNT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197695"/>
            <a:ext cx="2171646" cy="1521420"/>
          </a:xfrm>
          <a:prstGeom prst="rect">
            <a:avLst/>
          </a:prstGeom>
          <a:solidFill>
            <a:srgbClr val="0D1E38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426295"/>
            <a:ext cx="1714457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$58.46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38179" y="3220045"/>
            <a:ext cx="232404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Standard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1230" y="2197695"/>
            <a:ext cx="2171646" cy="1521420"/>
          </a:xfrm>
          <a:prstGeom prst="rect">
            <a:avLst/>
          </a:prstGeom>
          <a:solidFill>
            <a:srgbClr val="0D1E38"/>
          </a:solidFill>
          <a:ln/>
        </p:spPr>
      </p:sp>
      <p:sp>
        <p:nvSpPr>
          <p:cNvPr id="9" name="Text 7"/>
          <p:cNvSpPr/>
          <p:nvPr/>
        </p:nvSpPr>
        <p:spPr>
          <a:xfrm>
            <a:off x="3009825" y="2426295"/>
            <a:ext cx="1714457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$60.48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009825" y="3220045"/>
            <a:ext cx="232404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Express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10065" y="1819275"/>
            <a:ext cx="678163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REVENUE BY AGE GROUP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10065" y="2224683"/>
          <a:ext cx="9143771" cy="914400"/>
        </p:xfrm>
        <a:graphic>
          <a:graphicData uri="http://schemas.openxmlformats.org/drawingml/2006/table">
            <a:tbl>
              <a:tblPr/>
              <a:tblGrid>
                <a:gridCol w="3579787"/>
                <a:gridCol w="2592259"/>
              </a:tblGrid>
              <a:tr h="3734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84" kern="0" dirty="0">
                          <a:solidFill>
                            <a:srgbClr val="4B8DF8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AGE GROUP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84" kern="0" dirty="0">
                          <a:solidFill>
                            <a:srgbClr val="4B8DF8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REVENUE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Young Adult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$62,143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Middle-aged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$59,197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95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Adult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$55,978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  <a:tr h="403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Senior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1F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$55,763</a:t>
                      </a:r>
                      <a:endParaRPr lang="en-US" sz="12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25399" marR="126997" marT="88898" marB="88898" anchor="ctr">
                    <a:lnL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6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09585" y="4395192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105" kern="0" dirty="0">
                <a:solidFill>
                  <a:srgbClr val="93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ACTIVATION · PRIORITIZE HIGH-REVENUE AGE GROUPS AND EXPRESS-SHIPPING AUDIENCES IN TARGETED CAMPAIGNS.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75121" y="1819275"/>
            <a:ext cx="12700" cy="2410817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5" name="Text 12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07 · SUBSCRIPTION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93341"/>
            <a:ext cx="10972526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spc="-126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Subscription coverage is 27% even though average spend is almost flat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98675"/>
            <a:ext cx="579105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SUBSCRIBERS · 27%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534245"/>
            <a:ext cx="518147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1,053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09585" y="3327995"/>
            <a:ext cx="518147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spend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$59.49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Total revenue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$62,645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640" y="2098675"/>
            <a:ext cx="579105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NON-SUBSCRIBERS · 73%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640" y="2534245"/>
            <a:ext cx="518147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2,847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640" y="3327995"/>
            <a:ext cx="518147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spend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$59.87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Total revenue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$170,436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585" y="433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24405F"/>
          </a:solidFill>
          <a:ln/>
        </p:spPr>
      </p:sp>
      <p:sp>
        <p:nvSpPr>
          <p:cNvPr id="11" name="Text 9"/>
          <p:cNvSpPr/>
          <p:nvPr/>
        </p:nvSpPr>
        <p:spPr>
          <a:xfrm>
            <a:off x="609585" y="4576961"/>
            <a:ext cx="10972526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Read:</a:t>
            </a:r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the immediate opportunity is adoption and benefit design—not assuming subscribers already spend more.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89498" y="1819275"/>
            <a:ext cx="12700" cy="2303661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3" name="Text 11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08 · LOYALTY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18741"/>
            <a:ext cx="10972526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spc="-126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Loyalty is already dominant, but the subscription bridge is unfinished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4726186"/>
            <a:ext cx="253993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3,116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585" y="5519936"/>
            <a:ext cx="314952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Loyal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55911" y="4726186"/>
            <a:ext cx="233674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701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555911" y="5519936"/>
            <a:ext cx="29463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Returning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99042" y="4726186"/>
            <a:ext cx="233674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264" kern="0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83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299042" y="5519936"/>
            <a:ext cx="29463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42174" y="4726186"/>
            <a:ext cx="253993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REPEAT BUYERS WITH &gt;5 PURCHASES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42174" y="5375077"/>
            <a:ext cx="253993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958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subscribers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2,518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non-subscribers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585" y="6144617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105" kern="0" dirty="0">
                <a:solidFill>
                  <a:srgbClr val="93A3B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SOURCE REPORTS REPEAT-BUYER COUNTS, NOT A LIKELIHOOD PERCENTAGE.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46366" y="4421386"/>
            <a:ext cx="12700" cy="1494631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9498" y="4421386"/>
            <a:ext cx="12700" cy="1494631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5" name="Shape 13"/>
          <p:cNvSpPr/>
          <p:nvPr/>
        </p:nvSpPr>
        <p:spPr>
          <a:xfrm>
            <a:off x="8832629" y="4421386"/>
            <a:ext cx="12700" cy="1494631"/>
          </a:xfrm>
          <a:prstGeom prst="rect">
            <a:avLst/>
          </a:prstGeom>
          <a:solidFill>
            <a:srgbClr val="2440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43" kern="0" dirty="0">
                <a:solidFill>
                  <a:srgbClr val="93A3B8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09 · GROWTH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18741"/>
            <a:ext cx="10972526" cy="49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800" b="1" spc="-133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Five moves turn the analysis into a growth agenda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404441"/>
            <a:ext cx="9509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1483" y="1399877"/>
            <a:ext cx="10440627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400" b="1" spc="-84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Grow subscriptions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1483" y="1847155"/>
            <a:ext cx="110502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Make exclusive benefits visible and measurable.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2419846"/>
            <a:ext cx="9509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1483" y="2415282"/>
            <a:ext cx="10440627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400" b="1" spc="-84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Reward repeat buyers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1483" y="2862560"/>
            <a:ext cx="110502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Move more Returning customers into Loyal.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3435251"/>
            <a:ext cx="9509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1483" y="3430687"/>
            <a:ext cx="10440627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400" b="1" spc="-84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Rebalance discounts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1483" y="3877965"/>
            <a:ext cx="110502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Test product-level discount policy against the dependence list.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585" y="4450655"/>
            <a:ext cx="9509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1483" y="4446091"/>
            <a:ext cx="10440627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400" b="1" spc="-84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Merchandise winners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1483" y="4893370"/>
            <a:ext cx="110502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Pair top-rated products with top-selling products in campaigns.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585" y="5466060"/>
            <a:ext cx="9509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B8DF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1483" y="5461496"/>
            <a:ext cx="10440627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400" b="1" spc="-84" kern="0" dirty="0">
                <a:solidFill>
                  <a:srgbClr val="E9F1F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Target precisely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41483" y="5908774"/>
            <a:ext cx="110502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9F1F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Prioritize high-revenue age groups and express-shipping users.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75740" y="6472039"/>
            <a:ext cx="81595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4B8D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2026-09-05T07:04:19Z</dcterms:created>
  <dcterms:modified xsi:type="dcterms:W3CDTF">2026-09-05T07:04:19Z</dcterms:modified>
</cp:coreProperties>
</file>